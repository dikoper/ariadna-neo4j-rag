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3172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Ариадна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3375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9D6E8"/>
                </a:solidFill>
                <a:latin typeface="Calibri"/>
              </a:rPr>
              <a:t>Карта знаний R&amp;D горно-металлургической отрасли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48840"/>
            <a:ext cx="1280160" cy="50800"/>
          </a:xfrm>
          <a:prstGeom prst="rect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CC7"/>
                </a:solidFill>
                <a:latin typeface="Calibri"/>
              </a:rPr>
              <a:t>Хакатон Норникеля — задача «Научный клубок»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89904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CC7"/>
                </a:solidFill>
                <a:latin typeface="Calibri"/>
              </a:rPr>
              <a:t>Команда «Ариадна» · 4 июля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43E"/>
                </a:solidFill>
                <a:latin typeface="Calibri"/>
              </a:rPr>
              <a:t>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005840" cy="38100"/>
          </a:xfrm>
          <a:prstGeom prst="rect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944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1 453 документа, 4,9 ГБ — статьи, обзоры, отчёты, доклады на русском и английском языках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Знания рассеяны по корпусу: опыт, числовые параметры, противоречия ищутся вручную — ни один эксперт не может перечитать всё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Непонятно, где реально нет исследований: «пробелы» не видны, пока на них случайно не наткнёшься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Вопросы звучат естественно («какие методы обессоливания подходят, если …») — а корпус не структурирован для такого поиска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73952"/>
            <a:ext cx="11643055" cy="292608"/>
          </a:xfrm>
          <a:prstGeom prst="rect">
            <a:avLst/>
          </a:prstGeom>
          <a:noFill/>
        </p:spPr>
        <p:txBody>
          <a:bodyPr wrap="square" lIns="548640" rIns="548640">
            <a:spAutoFit/>
          </a:bodyPr>
          <a:lstStyle/>
          <a:p>
            <a:pPr algn="l"/>
            <a:r>
              <a:rPr sz="1000" b="0">
                <a:solidFill>
                  <a:srgbClr val="8A95A5"/>
                </a:solidFill>
                <a:latin typeface="Calibri"/>
              </a:rPr>
              <a:t>Ариадна · хакатон Норникеля «Научный клубок»    ·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43E"/>
                </a:solidFill>
                <a:latin typeface="Calibri"/>
              </a:rPr>
              <a:t>Решение одним взглядом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005840" cy="38100"/>
          </a:xfrm>
          <a:prstGeom prst="rect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651760"/>
            <a:ext cx="1714134" cy="1554480"/>
          </a:xfrm>
          <a:prstGeom prst="roundRect">
            <a:avLst/>
          </a:prstGeom>
          <a:solidFill>
            <a:srgbClr val="10243E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Документы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(1 453 файла)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72502" y="3264408"/>
            <a:ext cx="411480" cy="329184"/>
          </a:xfrm>
          <a:prstGeom prst="rightArrow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93710" y="2651760"/>
            <a:ext cx="1714134" cy="15544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0243E"/>
                </a:solidFill>
                <a:latin typeface="Calibri"/>
              </a:rPr>
              <a:t>Извлечение</a:t>
            </a:r>
          </a:p>
          <a:p>
            <a:pPr algn="ctr"/>
            <a:r>
              <a:rPr sz="1250" b="0">
                <a:solidFill>
                  <a:srgbClr val="10243E"/>
                </a:solidFill>
                <a:latin typeface="Calibri"/>
              </a:rPr>
              <a:t>LLM по онтологии</a:t>
            </a:r>
          </a:p>
          <a:p>
            <a:pPr algn="ctr"/>
            <a:r>
              <a:rPr sz="1250" b="0">
                <a:solidFill>
                  <a:srgbClr val="10243E"/>
                </a:solidFill>
                <a:latin typeface="Calibri"/>
              </a:rPr>
              <a:t>+ правила для чисел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17572" y="3264408"/>
            <a:ext cx="411480" cy="329184"/>
          </a:xfrm>
          <a:prstGeom prst="rightArrow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38780" y="2651760"/>
            <a:ext cx="1714134" cy="15544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0243E"/>
                </a:solidFill>
                <a:latin typeface="Calibri"/>
              </a:rPr>
              <a:t>Граф знаний</a:t>
            </a:r>
          </a:p>
          <a:p>
            <a:pPr algn="ctr"/>
            <a:r>
              <a:rPr sz="1250" b="0">
                <a:solidFill>
                  <a:srgbClr val="10243E"/>
                </a:solidFill>
                <a:latin typeface="Calibri"/>
              </a:rPr>
              <a:t>Neo4j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62642" y="3264408"/>
            <a:ext cx="411480" cy="329184"/>
          </a:xfrm>
          <a:prstGeom prst="rightArrow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3850" y="2651760"/>
            <a:ext cx="1714134" cy="15544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0243E"/>
                </a:solidFill>
                <a:latin typeface="Calibri"/>
              </a:rPr>
              <a:t>Вопрос на</a:t>
            </a:r>
          </a:p>
          <a:p>
            <a:pPr algn="ctr"/>
            <a:r>
              <a:rPr sz="1250" b="0">
                <a:solidFill>
                  <a:srgbClr val="10243E"/>
                </a:solidFill>
                <a:latin typeface="Calibri"/>
              </a:rPr>
              <a:t>естественном языке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07712" y="3264408"/>
            <a:ext cx="411480" cy="329184"/>
          </a:xfrm>
          <a:prstGeom prst="rightArrow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28920" y="2651760"/>
            <a:ext cx="1714134" cy="1554480"/>
          </a:xfrm>
          <a:prstGeom prst="roundRect">
            <a:avLst/>
          </a:prstGeom>
          <a:solidFill>
            <a:srgbClr val="10243E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Ответ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с цитатами + подграф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+ карта пробелов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15E70"/>
                </a:solidFill>
                <a:latin typeface="Calibri"/>
              </a:rPr>
              <a:t>Каждый факт в графе — с провенансом до чанка-источника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473952"/>
            <a:ext cx="11643055" cy="292608"/>
          </a:xfrm>
          <a:prstGeom prst="rect">
            <a:avLst/>
          </a:prstGeom>
          <a:noFill/>
        </p:spPr>
        <p:txBody>
          <a:bodyPr wrap="square" lIns="548640" rIns="548640">
            <a:spAutoFit/>
          </a:bodyPr>
          <a:lstStyle/>
          <a:p>
            <a:pPr algn="l"/>
            <a:r>
              <a:rPr sz="1000" b="0">
                <a:solidFill>
                  <a:srgbClr val="8A95A5"/>
                </a:solidFill>
                <a:latin typeface="Calibri"/>
              </a:rPr>
              <a:t>Ариадна · хакатон Норникеля «Научный клубок»    ·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43E"/>
                </a:solidFill>
                <a:latin typeface="Calibri"/>
              </a:rPr>
              <a:t>Архитектура: двойной граф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005840" cy="38100"/>
          </a:xfrm>
          <a:prstGeom prst="rect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944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Лексический граф: Document → Chunk + векторный индекс (Qwen3-Embedding) — страховочный RAG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Сущностный граф: онтология задания — 8 типов сущностей, 6 типов связей, два хаба — Experiment и TechSolution/Process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Гибридный retrieval: граф + вектор, единое ранжирование чанков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Роутер запросов без LLM: намерение определяют правила → шаблонные Cypher-запросы (свободный text2cypher запрещён)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73952"/>
            <a:ext cx="11643055" cy="292608"/>
          </a:xfrm>
          <a:prstGeom prst="rect">
            <a:avLst/>
          </a:prstGeom>
          <a:noFill/>
        </p:spPr>
        <p:txBody>
          <a:bodyPr wrap="square" lIns="548640" rIns="548640">
            <a:spAutoFit/>
          </a:bodyPr>
          <a:lstStyle/>
          <a:p>
            <a:pPr algn="l"/>
            <a:r>
              <a:rPr sz="1000" b="0">
                <a:solidFill>
                  <a:srgbClr val="8A95A5"/>
                </a:solidFill>
                <a:latin typeface="Calibri"/>
              </a:rPr>
              <a:t>Ариадна · хакатон Норникеля «Научный клубок»    ·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43E"/>
                </a:solidFill>
                <a:latin typeface="Calibri"/>
              </a:rPr>
              <a:t>Масштаб в цифрах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005840" cy="38100"/>
          </a:xfrm>
          <a:prstGeom prst="rect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57400"/>
            <a:ext cx="2602153" cy="1783080"/>
          </a:xfrm>
          <a:prstGeom prst="rect">
            <a:avLst/>
          </a:prstGeom>
          <a:solidFill>
            <a:srgbClr val="F6F8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3000" b="1">
                <a:solidFill>
                  <a:srgbClr val="10243E"/>
                </a:solidFill>
                <a:latin typeface="Calibri"/>
              </a:rPr>
              <a:t>177</a:t>
            </a:r>
          </a:p>
          <a:p>
            <a:pPr algn="ctr"/>
            <a:r>
              <a:rPr sz="1300">
                <a:solidFill>
                  <a:srgbClr val="515E70"/>
                </a:solidFill>
                <a:latin typeface="Calibri"/>
              </a:rPr>
              <a:t>документов ядра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379393" y="2057400"/>
            <a:ext cx="2602153" cy="1783080"/>
          </a:xfrm>
          <a:prstGeom prst="rect">
            <a:avLst/>
          </a:prstGeom>
          <a:solidFill>
            <a:srgbClr val="F6F8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3000" b="1">
                <a:solidFill>
                  <a:srgbClr val="10243E"/>
                </a:solidFill>
                <a:latin typeface="Calibri"/>
              </a:rPr>
              <a:t>9 580</a:t>
            </a:r>
          </a:p>
          <a:p>
            <a:pPr algn="ctr"/>
            <a:r>
              <a:rPr sz="1300">
                <a:solidFill>
                  <a:srgbClr val="515E70"/>
                </a:solidFill>
                <a:latin typeface="Calibri"/>
              </a:rPr>
              <a:t>чанков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0146" y="2057400"/>
            <a:ext cx="2602153" cy="1783080"/>
          </a:xfrm>
          <a:prstGeom prst="rect">
            <a:avLst/>
          </a:prstGeom>
          <a:solidFill>
            <a:srgbClr val="F6F8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3000" b="1">
                <a:solidFill>
                  <a:srgbClr val="10243E"/>
                </a:solidFill>
                <a:latin typeface="Calibri"/>
              </a:rPr>
              <a:t>23,6 тыс.</a:t>
            </a:r>
          </a:p>
          <a:p>
            <a:pPr algn="ctr"/>
            <a:r>
              <a:rPr sz="1300">
                <a:solidFill>
                  <a:srgbClr val="515E70"/>
                </a:solidFill>
                <a:latin typeface="Calibri"/>
              </a:rPr>
              <a:t>сущностей</a:t>
            </a:r>
          </a:p>
        </p:txBody>
      </p:sp>
      <p:sp>
        <p:nvSpPr>
          <p:cNvPr id="7" name="Rectangle 6"/>
          <p:cNvSpPr/>
          <p:nvPr/>
        </p:nvSpPr>
        <p:spPr>
          <a:xfrm>
            <a:off x="9040899" y="2057400"/>
            <a:ext cx="2602153" cy="1783080"/>
          </a:xfrm>
          <a:prstGeom prst="rect">
            <a:avLst/>
          </a:prstGeom>
          <a:solidFill>
            <a:srgbClr val="F6F8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3000" b="1">
                <a:solidFill>
                  <a:srgbClr val="10243E"/>
                </a:solidFill>
                <a:latin typeface="Calibri"/>
              </a:rPr>
              <a:t>25 063</a:t>
            </a:r>
          </a:p>
          <a:p>
            <a:pPr algn="ctr"/>
            <a:r>
              <a:rPr sz="1300">
                <a:solidFill>
                  <a:srgbClr val="515E70"/>
                </a:solidFill>
                <a:latin typeface="Calibri"/>
              </a:rPr>
              <a:t>связей графа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069080"/>
            <a:ext cx="2602153" cy="1783080"/>
          </a:xfrm>
          <a:prstGeom prst="rect">
            <a:avLst/>
          </a:prstGeom>
          <a:solidFill>
            <a:srgbClr val="F6F8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3000" b="1">
                <a:solidFill>
                  <a:srgbClr val="10243E"/>
                </a:solidFill>
                <a:latin typeface="Calibri"/>
              </a:rPr>
              <a:t>8 179</a:t>
            </a:r>
          </a:p>
          <a:p>
            <a:pPr algn="ctr"/>
            <a:r>
              <a:rPr sz="1300">
                <a:solidFill>
                  <a:srgbClr val="515E70"/>
                </a:solidFill>
                <a:latin typeface="Calibri"/>
              </a:rPr>
              <a:t>числовых ограничений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9393" y="4069080"/>
            <a:ext cx="2602153" cy="1783080"/>
          </a:xfrm>
          <a:prstGeom prst="rect">
            <a:avLst/>
          </a:prstGeom>
          <a:solidFill>
            <a:srgbClr val="F6F8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3000" b="1">
                <a:solidFill>
                  <a:srgbClr val="10243E"/>
                </a:solidFill>
                <a:latin typeface="Calibri"/>
              </a:rPr>
              <a:t>175 / 177</a:t>
            </a:r>
          </a:p>
          <a:p>
            <a:pPr algn="ctr"/>
            <a:r>
              <a:rPr sz="1300">
                <a:solidFill>
                  <a:srgbClr val="515E70"/>
                </a:solidFill>
                <a:latin typeface="Calibri"/>
              </a:rPr>
              <a:t>документов с гео-разметкой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6" y="4069080"/>
            <a:ext cx="2602153" cy="1783080"/>
          </a:xfrm>
          <a:prstGeom prst="rect">
            <a:avLst/>
          </a:prstGeom>
          <a:solidFill>
            <a:srgbClr val="F6F8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3000" b="1">
                <a:solidFill>
                  <a:srgbClr val="10243E"/>
                </a:solidFill>
                <a:latin typeface="Calibri"/>
              </a:rPr>
              <a:t>620</a:t>
            </a:r>
          </a:p>
          <a:p>
            <a:pPr algn="ctr"/>
            <a:r>
              <a:rPr sz="1300">
                <a:solidFill>
                  <a:srgbClr val="515E70"/>
                </a:solidFill>
                <a:latin typeface="Calibri"/>
              </a:rPr>
              <a:t>автотестов (+3 xfail)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73952"/>
            <a:ext cx="11643055" cy="292608"/>
          </a:xfrm>
          <a:prstGeom prst="rect">
            <a:avLst/>
          </a:prstGeom>
          <a:noFill/>
        </p:spPr>
        <p:txBody>
          <a:bodyPr wrap="square" lIns="548640" rIns="548640">
            <a:spAutoFit/>
          </a:bodyPr>
          <a:lstStyle/>
          <a:p>
            <a:pPr algn="l"/>
            <a:r>
              <a:rPr sz="1000" b="0">
                <a:solidFill>
                  <a:srgbClr val="8A95A5"/>
                </a:solidFill>
                <a:latin typeface="Calibri"/>
              </a:rPr>
              <a:t>Ариадна · хакатон Норникеля «Научный клубок»    ·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6692"/>
                </a:solidFill>
                <a:latin typeface="Calibri"/>
              </a:rPr>
              <a:t>ИНВАРИАНТ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43E"/>
                </a:solidFill>
                <a:latin typeface="Calibri"/>
              </a:rPr>
              <a:t>Точность чисел — не дело случая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005840" cy="38100"/>
          </a:xfrm>
          <a:prstGeom prst="rect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10944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Концентрации, температуры, расходы и другие числовые параметры извлекает ТОЛЬКО регекс-нормализатор — никогда LLM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LLM определяет, где искать; финальное число и единицу измерения проверяет детерминированное правило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Ошибка в «сульфаты ≤300 мг/л» — не опечатка, а неверный технологический вывод для инженера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8 179 числовых ограничений в графе — каждое привязано к чанку-источнику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73952"/>
            <a:ext cx="11643055" cy="292608"/>
          </a:xfrm>
          <a:prstGeom prst="rect">
            <a:avLst/>
          </a:prstGeom>
          <a:noFill/>
        </p:spPr>
        <p:txBody>
          <a:bodyPr wrap="square" lIns="548640" rIns="548640">
            <a:spAutoFit/>
          </a:bodyPr>
          <a:lstStyle/>
          <a:p>
            <a:pPr algn="l"/>
            <a:r>
              <a:rPr sz="1000" b="0">
                <a:solidFill>
                  <a:srgbClr val="8A95A5"/>
                </a:solidFill>
                <a:latin typeface="Calibri"/>
              </a:rPr>
              <a:t>Ариадна · хакатон Норникеля «Научный клубок»    ·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43E"/>
                </a:solidFill>
                <a:latin typeface="Calibri"/>
              </a:rPr>
              <a:t>4 запроса жюри — отвечают все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005840" cy="38100"/>
          </a:xfrm>
          <a:prstGeom prst="rect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944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Q1. Обессоливание воды (сульфаты/хлориды/Ca/Mg/Na 200–300 мг/л, сухой остаток ≤1000 мг/дм³) — применимые методы с граничными концентрациями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Q2. Циркуляция католита при электроэкстракции никеля — решения мировой практики и оптимальная скорость потока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Q3. Распределение Au, Ag и МПГ между штейном и шлаком за 5 лет — эксперименты и публикации по теме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Q4. Закачка шахтных вод в глубокие горизонты — честный пробел в корпусе + смежные альтернативы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15E70"/>
                </a:solidFill>
                <a:latin typeface="Calibri"/>
              </a:rPr>
              <a:t>Каждый ответ — с цитатами до конкретного чанка-источника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73952"/>
            <a:ext cx="11643055" cy="292608"/>
          </a:xfrm>
          <a:prstGeom prst="rect">
            <a:avLst/>
          </a:prstGeom>
          <a:noFill/>
        </p:spPr>
        <p:txBody>
          <a:bodyPr wrap="square" lIns="548640" rIns="548640">
            <a:spAutoFit/>
          </a:bodyPr>
          <a:lstStyle/>
          <a:p>
            <a:pPr algn="l"/>
            <a:r>
              <a:rPr sz="1000" b="0">
                <a:solidFill>
                  <a:srgbClr val="8A95A5"/>
                </a:solidFill>
                <a:latin typeface="Calibri"/>
              </a:rPr>
              <a:t>Ариадна · хакатон Норникеля «Научный клубок»    ·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6692"/>
                </a:solidFill>
                <a:latin typeface="Calibri"/>
              </a:rPr>
              <a:t>ГЛАВНАЯ ФИЧА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43E"/>
                </a:solidFill>
                <a:latin typeface="Calibri"/>
              </a:rPr>
              <a:t>Карта пробелов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005840" cy="38100"/>
          </a:xfrm>
          <a:prstGeom prst="rect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10944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Gap-матрица «материал × процесс»: показывает сочетания, для которых в корпусе нет экспериментов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Q4 (закачка шахтных вод) — теме физически нечего ответить; система честно говорит «в корпусе не найдено» и предлагает смежные альтернативы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Гео-разметка вскрывает перекос практики: только в РФ (only_ru) — 44 темы, только за рубежом (only_foreign) — 225 тем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Пробел — не баг, а сигнал: куда направить R&amp;D или литобзор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73952"/>
            <a:ext cx="11643055" cy="292608"/>
          </a:xfrm>
          <a:prstGeom prst="rect">
            <a:avLst/>
          </a:prstGeom>
          <a:noFill/>
        </p:spPr>
        <p:txBody>
          <a:bodyPr wrap="square" lIns="548640" rIns="548640">
            <a:spAutoFit/>
          </a:bodyPr>
          <a:lstStyle/>
          <a:p>
            <a:pPr algn="l"/>
            <a:r>
              <a:rPr sz="1000" b="0">
                <a:solidFill>
                  <a:srgbClr val="8A95A5"/>
                </a:solidFill>
                <a:latin typeface="Calibri"/>
              </a:rPr>
              <a:t>Ариадна · хакатон Норникеля «Научный клубок»    ·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43E"/>
                </a:solidFill>
                <a:latin typeface="Calibri"/>
              </a:rPr>
              <a:t>Верификация и работа эксперта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005840" cy="38100"/>
          </a:xfrm>
          <a:prstGeom prst="rect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944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Каждый факт несёт provenance: source, updated_at, confidence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Противоречия (contradicts) подсвечиваются в подграфе ответа, а не прячутся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Эксперт правит граф напрямую в Neo4j Browser — без переизвлечения корпуса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Версионирование-минимум готово к аудиту решений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73952"/>
            <a:ext cx="11643055" cy="292608"/>
          </a:xfrm>
          <a:prstGeom prst="rect">
            <a:avLst/>
          </a:prstGeom>
          <a:noFill/>
        </p:spPr>
        <p:txBody>
          <a:bodyPr wrap="square" lIns="548640" rIns="548640">
            <a:spAutoFit/>
          </a:bodyPr>
          <a:lstStyle/>
          <a:p>
            <a:pPr algn="l"/>
            <a:r>
              <a:rPr sz="1000" b="0">
                <a:solidFill>
                  <a:srgbClr val="8A95A5"/>
                </a:solidFill>
                <a:latin typeface="Calibri"/>
              </a:rPr>
              <a:t>Ариадна · хакатон Норникеля «Научный клубок»    ·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43E"/>
                </a:solidFill>
                <a:latin typeface="Calibri"/>
              </a:rPr>
              <a:t>Стек — полностью локальный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005840" cy="38100"/>
          </a:xfrm>
          <a:prstGeom prst="rect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944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Neo4j — граф знаний + векторный индекс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Qwen3.5-35B-A3B через Ollama (int4) — извлечение и синтез ответов, локально на DGX Spark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Qwen3-Embedding-0.6B — эмбеддинги RU/EN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Ни документ, ни вопрос, ни ответ не покидают контур — внешних API 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73952"/>
            <a:ext cx="11643055" cy="292608"/>
          </a:xfrm>
          <a:prstGeom prst="rect">
            <a:avLst/>
          </a:prstGeom>
          <a:noFill/>
        </p:spPr>
        <p:txBody>
          <a:bodyPr wrap="square" lIns="548640" rIns="548640">
            <a:spAutoFit/>
          </a:bodyPr>
          <a:lstStyle/>
          <a:p>
            <a:pPr algn="l"/>
            <a:r>
              <a:rPr sz="1000" b="0">
                <a:solidFill>
                  <a:srgbClr val="8A95A5"/>
                </a:solidFill>
                <a:latin typeface="Calibri"/>
              </a:rPr>
              <a:t>Ариадна · хакатон Норникеля «Научный клубок»    ·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43E"/>
                </a:solidFill>
                <a:latin typeface="Calibri"/>
              </a:rPr>
              <a:t>Что дальше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005840" cy="38100"/>
          </a:xfrm>
          <a:prstGeom prst="rect">
            <a:avLst/>
          </a:prstGeom>
          <a:solidFill>
            <a:srgbClr val="3E6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944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Рекомендации: похожие кейсы, эксперты по теме, смежные направления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Литобзор с автоматическим консенсусом/разногласиями источников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JSON-LD фасад для интеграции с внешними системами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0243E"/>
                </a:solidFill>
                <a:latin typeface="Calibri"/>
              </a:rPr>
              <a:t>●  Масштабирование извлечения на весь корпус (1 453 документа)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73952"/>
            <a:ext cx="11643055" cy="292608"/>
          </a:xfrm>
          <a:prstGeom prst="rect">
            <a:avLst/>
          </a:prstGeom>
          <a:noFill/>
        </p:spPr>
        <p:txBody>
          <a:bodyPr wrap="square" lIns="548640" rIns="548640">
            <a:spAutoFit/>
          </a:bodyPr>
          <a:lstStyle/>
          <a:p>
            <a:pPr algn="l"/>
            <a:r>
              <a:rPr sz="1000" b="0">
                <a:solidFill>
                  <a:srgbClr val="8A95A5"/>
                </a:solidFill>
                <a:latin typeface="Calibri"/>
              </a:rPr>
              <a:t>Ариадна · хакатон Норникеля «Научный клубок»    ·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Демо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C9D6E8"/>
                </a:solidFill>
                <a:latin typeface="Calibri"/>
              </a:rPr>
              <a:t>●  Streamlit-чат: вопрос → ответ с цитатами → подграф → карта пробелов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C9D6E8"/>
                </a:solidFill>
                <a:latin typeface="Calibri"/>
              </a:rPr>
              <a:t>●  Видео-демо: [ссылка]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Спасибо!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73952"/>
            <a:ext cx="11643055" cy="292608"/>
          </a:xfrm>
          <a:prstGeom prst="rect">
            <a:avLst/>
          </a:prstGeom>
          <a:noFill/>
        </p:spPr>
        <p:txBody>
          <a:bodyPr wrap="square" lIns="548640" rIns="548640">
            <a:spAutoFit/>
          </a:bodyPr>
          <a:lstStyle/>
          <a:p>
            <a:pPr algn="l"/>
            <a:r>
              <a:rPr sz="1000" b="0">
                <a:solidFill>
                  <a:srgbClr val="8FA0BA"/>
                </a:solidFill>
                <a:latin typeface="Calibri"/>
              </a:rPr>
              <a:t>Ариадна · хакатон Норникеля «Научный клубок»    ·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